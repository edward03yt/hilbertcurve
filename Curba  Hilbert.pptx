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02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1398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657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5303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155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006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58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993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535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7687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08599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457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05202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646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6752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5289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492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16396B4-EC2C-42C3-89F3-DE7D984089F2}" type="datetimeFigureOut">
              <a:rPr lang="ro-RO" smtClean="0"/>
              <a:t>11.11.2025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5D357A3-F2BC-4E7B-BDC4-C8135886F0F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6850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351C-20BB-D7BF-6CAC-E6AC409A3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Curba Hilbert - Fractali și Vizualizare Interactivă</a:t>
            </a:r>
            <a:endParaRPr lang="ro-R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7A87E-62F9-1988-2C90-D7732FB88F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Craciun Andrei – Eduard</a:t>
            </a:r>
          </a:p>
          <a:p>
            <a:r>
              <a:rPr lang="en-US" dirty="0">
                <a:solidFill>
                  <a:schemeClr val="bg1"/>
                </a:solidFill>
              </a:rPr>
              <a:t>GR: 1341</a:t>
            </a:r>
          </a:p>
          <a:p>
            <a:r>
              <a:rPr lang="en-US" dirty="0" err="1">
                <a:solidFill>
                  <a:schemeClr val="bg1"/>
                </a:solidFill>
              </a:rPr>
              <a:t>Fractali</a:t>
            </a:r>
            <a:r>
              <a:rPr lang="en-US" dirty="0">
                <a:solidFill>
                  <a:schemeClr val="bg1"/>
                </a:solidFill>
              </a:rPr>
              <a:t> - </a:t>
            </a:r>
            <a:r>
              <a:rPr lang="en-US" dirty="0" err="1">
                <a:solidFill>
                  <a:schemeClr val="bg1"/>
                </a:solidFill>
              </a:rPr>
              <a:t>Proiect</a:t>
            </a: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0249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0682-12E5-EBBC-0712-A07BCDFC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35026"/>
            <a:ext cx="8534400" cy="1507067"/>
          </a:xfrm>
        </p:spPr>
        <p:txBody>
          <a:bodyPr/>
          <a:lstStyle/>
          <a:p>
            <a:r>
              <a:rPr lang="ro-RO" dirty="0"/>
              <a:t>Introducere - Ce este Curba Hilbert?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9C51-BE7C-079B-B9F0-376ED5687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82" y="2164278"/>
            <a:ext cx="8534400" cy="3615267"/>
          </a:xfrm>
        </p:spPr>
        <p:txBody>
          <a:bodyPr>
            <a:normAutofit lnSpcReduction="10000"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Definiție:</a:t>
            </a:r>
            <a:r>
              <a:rPr lang="ro-RO" dirty="0">
                <a:solidFill>
                  <a:schemeClr val="bg1"/>
                </a:solidFill>
              </a:rPr>
              <a:t> Curba Hilbert este o curbă continuă care umple complet spațiul unui pătrat, trecând prin toate punctele acestuia.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b="1" dirty="0">
                <a:solidFill>
                  <a:schemeClr val="bg1"/>
                </a:solidFill>
              </a:rPr>
              <a:t>Caracteristici principale:</a:t>
            </a:r>
            <a:endParaRPr lang="ro-RO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Curbă fractală recursivă</a:t>
            </a:r>
          </a:p>
          <a:p>
            <a:pPr marL="514350" indent="-51435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Linie continuă fără intersecții</a:t>
            </a:r>
          </a:p>
          <a:p>
            <a:pPr marL="514350" indent="-51435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Umple complet spațiul 2D</a:t>
            </a:r>
          </a:p>
          <a:p>
            <a:pPr marL="514350" indent="-51435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Auto-similară la toate nivelurile</a:t>
            </a:r>
          </a:p>
          <a:p>
            <a:r>
              <a:rPr lang="ro-RO" b="1" dirty="0">
                <a:solidFill>
                  <a:schemeClr val="bg1"/>
                </a:solidFill>
              </a:rPr>
              <a:t>Creator:</a:t>
            </a:r>
            <a:r>
              <a:rPr lang="ro-RO" dirty="0">
                <a:solidFill>
                  <a:schemeClr val="bg1"/>
                </a:solidFill>
              </a:rPr>
              <a:t> David Hilbert (1891) Matematician german</a:t>
            </a:r>
          </a:p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026" name="Picture 2" descr="David Hilbert Legacy">
            <a:extLst>
              <a:ext uri="{FF2B5EF4-FFF2-40B4-BE49-F238E27FC236}">
                <a16:creationId xmlns:a16="http://schemas.microsoft.com/office/drawing/2014/main" id="{D3D7B022-62A1-F91D-6FCB-AEC98645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150" y="129088"/>
            <a:ext cx="1845206" cy="251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ilbert curve of order 1,2,3,4 corresponding to 2x2, 4x4, 8x8, 16x16... |  Download Scientific Diagram">
            <a:extLst>
              <a:ext uri="{FF2B5EF4-FFF2-40B4-BE49-F238E27FC236}">
                <a16:creationId xmlns:a16="http://schemas.microsoft.com/office/drawing/2014/main" id="{1D515218-4193-C1F8-1C6A-7C0FEFF88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810" y="3163894"/>
            <a:ext cx="4960546" cy="155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32982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7C74-47BC-6E87-ABF1-DCD512AA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47" y="455660"/>
            <a:ext cx="8534400" cy="1507067"/>
          </a:xfrm>
        </p:spPr>
        <p:txBody>
          <a:bodyPr/>
          <a:lstStyle/>
          <a:p>
            <a:r>
              <a:rPr lang="ro-RO" dirty="0"/>
              <a:t>CONTEXT ISTORIC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E38C-9BE7-638A-0CE8-C1AEB8D58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46" y="1674421"/>
            <a:ext cx="9540443" cy="4485135"/>
          </a:xfrm>
        </p:spPr>
        <p:txBody>
          <a:bodyPr>
            <a:normAutofit fontScale="92500" lnSpcReduction="20000"/>
          </a:bodyPr>
          <a:lstStyle/>
          <a:p>
            <a:r>
              <a:rPr lang="ro-RO" sz="1800" b="1" dirty="0">
                <a:solidFill>
                  <a:schemeClr val="bg1"/>
                </a:solidFill>
              </a:rPr>
              <a:t>Cronologie:</a:t>
            </a:r>
            <a:endParaRPr lang="ro-RO" sz="1800" dirty="0">
              <a:solidFill>
                <a:schemeClr val="bg1"/>
              </a:solidFill>
            </a:endParaRPr>
          </a:p>
          <a:p>
            <a:r>
              <a:rPr lang="ro-RO" sz="1800" b="1" dirty="0">
                <a:solidFill>
                  <a:schemeClr val="bg1"/>
                </a:solidFill>
              </a:rPr>
              <a:t>1890 - Giuseppe Peano</a:t>
            </a:r>
            <a:endParaRPr lang="ro-RO" sz="18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sz="1800" dirty="0">
                <a:solidFill>
                  <a:schemeClr val="bg1"/>
                </a:solidFill>
              </a:rPr>
              <a:t>Prima curbă care umple spațiul (Peano Curve)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1800" dirty="0">
                <a:solidFill>
                  <a:schemeClr val="bg1"/>
                </a:solidFill>
              </a:rPr>
              <a:t>Demonstrație matematică complexă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1800" dirty="0">
                <a:solidFill>
                  <a:schemeClr val="bg1"/>
                </a:solidFill>
              </a:rPr>
              <a:t>Dificil de vizualizat geometric</a:t>
            </a:r>
          </a:p>
          <a:p>
            <a:r>
              <a:rPr lang="ro-RO" sz="1800" b="1" dirty="0">
                <a:solidFill>
                  <a:schemeClr val="bg1"/>
                </a:solidFill>
              </a:rPr>
              <a:t>1891 - David Hilbert</a:t>
            </a:r>
            <a:endParaRPr lang="ro-RO" sz="18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sz="1800" dirty="0">
                <a:solidFill>
                  <a:schemeClr val="bg1"/>
                </a:solidFill>
              </a:rPr>
              <a:t>Varianta mai intuitivă și geometrică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1800" dirty="0">
                <a:solidFill>
                  <a:schemeClr val="bg1"/>
                </a:solidFill>
              </a:rPr>
              <a:t>Construcție recursivă elegantă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1800" dirty="0">
                <a:solidFill>
                  <a:schemeClr val="bg1"/>
                </a:solidFill>
              </a:rPr>
              <a:t>Ușor de reprezentat vizual</a:t>
            </a:r>
          </a:p>
          <a:p>
            <a:r>
              <a:rPr lang="ro-RO" sz="1800" b="1" dirty="0">
                <a:solidFill>
                  <a:schemeClr val="bg1"/>
                </a:solidFill>
              </a:rPr>
              <a:t>Importanță matematică:</a:t>
            </a:r>
            <a:endParaRPr lang="ro-RO" sz="18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solidFill>
                  <a:schemeClr val="bg1"/>
                </a:solidFill>
              </a:rPr>
              <a:t>Demonstrează existența funcțiilor continue dar nederivabile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solidFill>
                  <a:schemeClr val="bg1"/>
                </a:solidFill>
              </a:rPr>
              <a:t>Introduce conceptul de "dimensiune fracțională"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solidFill>
                  <a:schemeClr val="bg1"/>
                </a:solidFill>
              </a:rPr>
              <a:t>Influențează dezvoltarea teoriei fractală moderne</a:t>
            </a:r>
          </a:p>
          <a:p>
            <a:endParaRPr lang="ro-RO" sz="1800" dirty="0">
              <a:solidFill>
                <a:schemeClr val="bg1"/>
              </a:solidFill>
            </a:endParaRPr>
          </a:p>
        </p:txBody>
      </p:sp>
      <p:pic>
        <p:nvPicPr>
          <p:cNvPr id="2050" name="Picture 2" descr="Giuseppe Peano - Wikipedia">
            <a:extLst>
              <a:ext uri="{FF2B5EF4-FFF2-40B4-BE49-F238E27FC236}">
                <a16:creationId xmlns:a16="http://schemas.microsoft.com/office/drawing/2014/main" id="{25CCE2B8-6155-1C40-078C-B6F33F911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451" y="3595554"/>
            <a:ext cx="2094314" cy="2650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avid Hilbert Legacy">
            <a:extLst>
              <a:ext uri="{FF2B5EF4-FFF2-40B4-BE49-F238E27FC236}">
                <a16:creationId xmlns:a16="http://schemas.microsoft.com/office/drawing/2014/main" id="{399E1531-232A-F052-EEBB-10A956C20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124" y="3373803"/>
            <a:ext cx="2172241" cy="295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he first two iterations of the Hilbert, Hilbert II and Peano curves |  Download Scientific Diagram">
            <a:extLst>
              <a:ext uri="{FF2B5EF4-FFF2-40B4-BE49-F238E27FC236}">
                <a16:creationId xmlns:a16="http://schemas.microsoft.com/office/drawing/2014/main" id="{12B77682-9FEF-716D-42F3-1C8F3FB85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765" y="268198"/>
            <a:ext cx="4583200" cy="310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2872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6518-11B5-26F6-EF20-93D6D04D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11" y="685800"/>
            <a:ext cx="8534400" cy="1507067"/>
          </a:xfrm>
        </p:spPr>
        <p:txBody>
          <a:bodyPr/>
          <a:lstStyle/>
          <a:p>
            <a:r>
              <a:rPr lang="ro-RO" dirty="0"/>
              <a:t>Proprietăți Matematice Fundamentale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0C4DA-30D0-CCFE-1ECB-4FEEBB4C2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30" y="2287484"/>
            <a:ext cx="8534400" cy="3615267"/>
          </a:xfrm>
        </p:spPr>
        <p:txBody>
          <a:bodyPr>
            <a:normAutofit fontScale="55000" lnSpcReduction="20000"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1. Funcție Continuă</a:t>
            </a:r>
            <a:endParaRPr lang="ro-RO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Mapează intervalul [0, 1] în pătratul [0, 1]²</a:t>
            </a: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f: [0,1] → [0,1]²</a:t>
            </a: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Fără discontinuități sau salturi</a:t>
            </a:r>
          </a:p>
          <a:p>
            <a:r>
              <a:rPr lang="ro-RO" b="1" dirty="0">
                <a:solidFill>
                  <a:schemeClr val="bg1"/>
                </a:solidFill>
              </a:rPr>
              <a:t>2. Definire Recursivă</a:t>
            </a:r>
            <a:endParaRPr lang="ro-RO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Orice ordin n poate fi generat din ordinul n-1</a:t>
            </a: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Formula: 4 copii transformate ale nivelului anterior</a:t>
            </a:r>
          </a:p>
          <a:p>
            <a:r>
              <a:rPr lang="ro-RO" b="1" dirty="0">
                <a:solidFill>
                  <a:schemeClr val="bg1"/>
                </a:solidFill>
              </a:rPr>
              <a:t>3. Auto-similitudine</a:t>
            </a:r>
            <a:endParaRPr lang="ro-RO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Fiecare cadran conține o copie rotită a întregii curbe</a:t>
            </a: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Proprietate fractală perfectă</a:t>
            </a:r>
          </a:p>
          <a:p>
            <a:r>
              <a:rPr lang="ro-RO" b="1" dirty="0">
                <a:solidFill>
                  <a:schemeClr val="bg1"/>
                </a:solidFill>
              </a:rPr>
              <a:t>4. Complexitate Exponențială</a:t>
            </a:r>
            <a:endParaRPr lang="ro-RO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Număr de segmente: </a:t>
            </a:r>
            <a:r>
              <a:rPr lang="ro-RO" b="1" dirty="0">
                <a:solidFill>
                  <a:schemeClr val="bg1"/>
                </a:solidFill>
              </a:rPr>
              <a:t>4ⁿ</a:t>
            </a:r>
            <a:endParaRPr lang="ro-RO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Număr de puncte: </a:t>
            </a:r>
            <a:r>
              <a:rPr lang="ro-RO" b="1" dirty="0">
                <a:solidFill>
                  <a:schemeClr val="bg1"/>
                </a:solidFill>
              </a:rPr>
              <a:t>(2ⁿ)² = 4ⁿ</a:t>
            </a:r>
            <a:endParaRPr lang="ro-RO" dirty="0">
              <a:solidFill>
                <a:schemeClr val="bg1"/>
              </a:solidFill>
            </a:endParaRPr>
          </a:p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AF7AC4-05E8-21A5-67DD-0BB651160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195" y="513669"/>
            <a:ext cx="3752850" cy="2695575"/>
          </a:xfrm>
          <a:prstGeom prst="rect">
            <a:avLst/>
          </a:prstGeom>
        </p:spPr>
      </p:pic>
      <p:pic>
        <p:nvPicPr>
          <p:cNvPr id="3078" name="Picture 6" descr="Space-Filling Curves, Part I: “I see it, but I don't believe it” –  ThatsMaths">
            <a:extLst>
              <a:ext uri="{FF2B5EF4-FFF2-40B4-BE49-F238E27FC236}">
                <a16:creationId xmlns:a16="http://schemas.microsoft.com/office/drawing/2014/main" id="{B57FD8D2-177C-84D6-C5CE-47141BA2B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626" y="3429000"/>
            <a:ext cx="4371975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48924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0B8C-6B0D-B948-E27A-D12A8EB1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pt-BR" dirty="0"/>
              <a:t>Aplicația Fractali Hilbert - Demo Interactiv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DCF3D-7E1A-CA4C-E1B1-E26EC16E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615541"/>
            <a:ext cx="8534400" cy="3615267"/>
          </a:xfrm>
        </p:spPr>
        <p:txBody>
          <a:bodyPr/>
          <a:lstStyle/>
          <a:p>
            <a:r>
              <a:rPr lang="ro-RO" b="1" dirty="0">
                <a:solidFill>
                  <a:schemeClr val="bg1"/>
                </a:solidFill>
              </a:rPr>
              <a:t>Tehnologii Utilizate:</a:t>
            </a:r>
            <a:endParaRPr lang="ro-RO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b="1" dirty="0">
                <a:solidFill>
                  <a:schemeClr val="bg1"/>
                </a:solidFill>
              </a:rPr>
              <a:t>Frontend:</a:t>
            </a:r>
            <a:r>
              <a:rPr lang="ro-RO" dirty="0">
                <a:solidFill>
                  <a:schemeClr val="bg1"/>
                </a:solidFill>
              </a:rPr>
              <a:t> React 1</a:t>
            </a:r>
            <a:r>
              <a:rPr lang="en-US" dirty="0">
                <a:solidFill>
                  <a:schemeClr val="bg1"/>
                </a:solidFill>
              </a:rPr>
              <a:t>9.2</a:t>
            </a:r>
            <a:r>
              <a:rPr lang="ro-RO" dirty="0">
                <a:solidFill>
                  <a:schemeClr val="bg1"/>
                </a:solidFill>
              </a:rPr>
              <a:t> + Next.js 1</a:t>
            </a:r>
            <a:r>
              <a:rPr lang="en-US" dirty="0">
                <a:solidFill>
                  <a:schemeClr val="bg1"/>
                </a:solidFill>
              </a:rPr>
              <a:t>6.0</a:t>
            </a:r>
            <a:endParaRPr lang="ro-RO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b="1" dirty="0">
                <a:solidFill>
                  <a:schemeClr val="bg1"/>
                </a:solidFill>
              </a:rPr>
              <a:t>Limbaj:</a:t>
            </a:r>
            <a:r>
              <a:rPr lang="ro-RO" dirty="0">
                <a:solidFill>
                  <a:schemeClr val="bg1"/>
                </a:solidFill>
              </a:rPr>
              <a:t> TypeScript 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b="1" dirty="0">
                <a:solidFill>
                  <a:schemeClr val="bg1"/>
                </a:solidFill>
              </a:rPr>
              <a:t>Styling:</a:t>
            </a:r>
            <a:r>
              <a:rPr lang="ro-RO" dirty="0">
                <a:solidFill>
                  <a:schemeClr val="bg1"/>
                </a:solidFill>
              </a:rPr>
              <a:t> Tailwind CSS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b="1" dirty="0">
                <a:solidFill>
                  <a:schemeClr val="bg1"/>
                </a:solidFill>
              </a:rPr>
              <a:t>Rendering:</a:t>
            </a:r>
            <a:r>
              <a:rPr lang="ro-RO" dirty="0">
                <a:solidFill>
                  <a:schemeClr val="bg1"/>
                </a:solidFill>
              </a:rPr>
              <a:t> HTML5 Canvas API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Host: </a:t>
            </a:r>
            <a:r>
              <a:rPr lang="en-US" dirty="0" err="1">
                <a:solidFill>
                  <a:schemeClr val="bg1"/>
                </a:solidFill>
              </a:rPr>
              <a:t>Vercel</a:t>
            </a:r>
            <a:endParaRPr lang="ro-RO" dirty="0">
              <a:solidFill>
                <a:schemeClr val="bg1"/>
              </a:solidFill>
            </a:endParaRPr>
          </a:p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48ADF-6520-3180-2A4E-D18B8EF97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78" y="1723791"/>
            <a:ext cx="2608748" cy="466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7268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BEA6-F8D8-158B-DED4-A81BCF9C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ro-RO" dirty="0"/>
              <a:t>Implementare - Structura de Date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FBEF14-EA5F-D6F3-45FF-6F9AF3342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59" y="3347295"/>
            <a:ext cx="3819357" cy="1657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42A601-86E1-14C3-4543-ECE29F9CA2B7}"/>
              </a:ext>
            </a:extLst>
          </p:cNvPr>
          <p:cNvSpPr txBox="1"/>
          <p:nvPr/>
        </p:nvSpPr>
        <p:spPr>
          <a:xfrm>
            <a:off x="684212" y="2642260"/>
            <a:ext cx="1993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Interfața Point: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AD6F0A-63BE-409A-9288-11B417525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897" y="3011592"/>
            <a:ext cx="4042145" cy="2655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4CB1F8-AA26-E392-FCB7-C146C96F7FC7}"/>
              </a:ext>
            </a:extLst>
          </p:cNvPr>
          <p:cNvSpPr txBox="1"/>
          <p:nvPr/>
        </p:nvSpPr>
        <p:spPr>
          <a:xfrm>
            <a:off x="4494810" y="2351314"/>
            <a:ext cx="3455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/>
              <a:t>Clasa HilbertCurve:</a:t>
            </a:r>
            <a:endParaRPr lang="ro-RO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0B63BC-C55D-2F0C-D4B1-727400A9B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910" y="3539755"/>
            <a:ext cx="3186731" cy="12725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F60971-FC26-E5DB-7C6E-CB9C647C5D6F}"/>
              </a:ext>
            </a:extLst>
          </p:cNvPr>
          <p:cNvSpPr txBox="1"/>
          <p:nvPr/>
        </p:nvSpPr>
        <p:spPr>
          <a:xfrm>
            <a:off x="9218612" y="2732522"/>
            <a:ext cx="250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/>
              <a:t>Exemplu de utilizare: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1718607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D4728-6673-0B6D-4378-748E976C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8248-E341-4777-AFEA-515F0074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ro-RO" dirty="0"/>
              <a:t>Algoritmul Principal - Generare Iterativă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45C95DD-0E82-0834-5E7A-51BE68D9F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706" y="2437597"/>
            <a:ext cx="5119741" cy="3616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44AA37-AB6B-1385-5B08-1CA57A6D4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994" y="2991981"/>
            <a:ext cx="4726503" cy="213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4996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915E-428D-5830-7B8C-51DDFC27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F78C5-421E-A536-9885-7424D81F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ro-RO" dirty="0"/>
              <a:t>Algoritmul Index → Coordonate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0FC56-6851-4FF0-31A1-466A11682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43" y="2285231"/>
            <a:ext cx="4339889" cy="4031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AB0D78-11E2-7427-00A9-500117CC0448}"/>
              </a:ext>
            </a:extLst>
          </p:cNvPr>
          <p:cNvSpPr txBox="1"/>
          <p:nvPr/>
        </p:nvSpPr>
        <p:spPr>
          <a:xfrm>
            <a:off x="5818909" y="2333501"/>
            <a:ext cx="58485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1"/>
                </a:solidFill>
              </a:rPr>
              <a:t>Operații bit-wise pentru eficiență:</a:t>
            </a:r>
            <a:endParaRPr lang="ro-RO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&gt;&gt; = shift dreapta (împărțire rapidă)</a:t>
            </a:r>
          </a:p>
          <a:p>
            <a:pPr marL="342900" indent="-3429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&lt;&lt; = shift stânga (înmulțire rapidă)</a:t>
            </a:r>
          </a:p>
          <a:p>
            <a:pPr marL="342900" indent="-3429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&amp; = AND logic (extragere biți)</a:t>
            </a:r>
          </a:p>
          <a:p>
            <a:pPr marL="342900" indent="-342900">
              <a:buFont typeface="+mj-lt"/>
              <a:buAutoNum type="arabicPeriod"/>
            </a:pPr>
            <a:r>
              <a:rPr lang="ro-RO" dirty="0">
                <a:solidFill>
                  <a:schemeClr val="bg1"/>
                </a:solidFill>
              </a:rPr>
              <a:t>^ = XOR logic (comparație biți)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o-RO" b="1" dirty="0">
                <a:solidFill>
                  <a:schemeClr val="bg1"/>
                </a:solidFill>
              </a:rPr>
              <a:t>Complexitate:</a:t>
            </a:r>
            <a:r>
              <a:rPr lang="ro-RO" dirty="0">
                <a:solidFill>
                  <a:schemeClr val="bg1"/>
                </a:solidFill>
              </a:rPr>
              <a:t> O(log n) per punct</a:t>
            </a:r>
          </a:p>
        </p:txBody>
      </p:sp>
    </p:spTree>
    <p:extLst>
      <p:ext uri="{BB962C8B-B14F-4D97-AF65-F5344CB8AC3E}">
        <p14:creationId xmlns:p14="http://schemas.microsoft.com/office/powerpoint/2010/main" val="319164639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BF80-C65C-3350-0BA2-E3F36F9F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2FE6-FC57-E03F-BD05-872AFB80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ro-RO" dirty="0"/>
              <a:t>Rotații Geometrice - Cum Transformăm Cadraneele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40BFA-65D3-34B5-3DB5-FB860DBF2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52" y="2502851"/>
            <a:ext cx="3185067" cy="35595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2B2D8-2449-2762-C769-27C88A456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106" y="3038740"/>
            <a:ext cx="2890837" cy="32527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0AD67E-A22E-F44B-15C9-672D3691F78F}"/>
              </a:ext>
            </a:extLst>
          </p:cNvPr>
          <p:cNvSpPr txBox="1"/>
          <p:nvPr/>
        </p:nvSpPr>
        <p:spPr>
          <a:xfrm>
            <a:off x="5456712" y="2392878"/>
            <a:ext cx="2464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/>
              <a:t>Cele 4 cazuri de rotație:</a:t>
            </a:r>
            <a:endParaRPr lang="ro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2FB23-EDA2-CB36-0339-F02528508750}"/>
              </a:ext>
            </a:extLst>
          </p:cNvPr>
          <p:cNvSpPr txBox="1"/>
          <p:nvPr/>
        </p:nvSpPr>
        <p:spPr>
          <a:xfrm>
            <a:off x="8461169" y="1757548"/>
            <a:ext cx="315883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600" dirty="0">
                <a:solidFill>
                  <a:schemeClr val="bg1"/>
                </a:solidFill>
              </a:rPr>
              <a:t>Funcția de rotație este esența pattern-ului Hilbert. Avem 4 cazuri posibile, determinate de 2 biți. Când ry este 0, facem o rotație de 90 de grade prin swap între X și Y. Dacă și rx este 1, mai facem și un flip - inversăm coordonatele. Acestea sunt transformările geometrice care dau curbei forma sa caracteristică. Fiecare cadran al curbei suferă o transformare diferită, și așa se asigură că linia nu se intersectează niciodată cu ea însăși</a:t>
            </a:r>
          </a:p>
        </p:txBody>
      </p:sp>
    </p:spTree>
    <p:extLst>
      <p:ext uri="{BB962C8B-B14F-4D97-AF65-F5344CB8AC3E}">
        <p14:creationId xmlns:p14="http://schemas.microsoft.com/office/powerpoint/2010/main" val="390429189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639E-7F3D-1EBC-A88B-92376BC2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F3AC-40E9-5E36-8769-8B11A0F8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ro-RO" dirty="0"/>
              <a:t>Desenarea pe Canvas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EBAEC-280E-4A15-6B50-EC7FE5705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17" y="2328617"/>
            <a:ext cx="4267316" cy="3917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1F5294-F560-798B-93A8-B65D0CC52A68}"/>
              </a:ext>
            </a:extLst>
          </p:cNvPr>
          <p:cNvSpPr txBox="1"/>
          <p:nvPr/>
        </p:nvSpPr>
        <p:spPr>
          <a:xfrm>
            <a:off x="5385460" y="2386940"/>
            <a:ext cx="5961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chemeClr val="accent6"/>
                </a:solidFill>
              </a:rPr>
              <a:t>Optimizare cheie:</a:t>
            </a:r>
            <a:r>
              <a:rPr lang="ro-RO" dirty="0">
                <a:solidFill>
                  <a:schemeClr val="accent6"/>
                </a:solidFill>
              </a:rPr>
              <a:t> Un singur beginPath() și un singur stroke() pentru întreaga curbă! Alternativa ineficientă ar fi: stroke() după fiecare segment → 1000× mai lent!</a:t>
            </a:r>
          </a:p>
        </p:txBody>
      </p:sp>
    </p:spTree>
    <p:extLst>
      <p:ext uri="{BB962C8B-B14F-4D97-AF65-F5344CB8AC3E}">
        <p14:creationId xmlns:p14="http://schemas.microsoft.com/office/powerpoint/2010/main" val="54569016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4E90-85D3-61AA-9485-357183B1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269" y="264225"/>
            <a:ext cx="8534400" cy="1507067"/>
          </a:xfrm>
        </p:spPr>
        <p:txBody>
          <a:bodyPr/>
          <a:lstStyle/>
          <a:p>
            <a:r>
              <a:rPr lang="ro-RO" dirty="0"/>
              <a:t>Iterativ vs Recursiv - Compara</a:t>
            </a:r>
            <a:r>
              <a:rPr lang="en-US" dirty="0"/>
              <a:t>t</a:t>
            </a:r>
            <a:r>
              <a:rPr lang="ro-RO" dirty="0"/>
              <a:t>ie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D0418D4-A71C-36FD-58B8-6DD2BE399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555015"/>
              </p:ext>
            </p:extLst>
          </p:nvPr>
        </p:nvGraphicFramePr>
        <p:xfrm>
          <a:off x="690150" y="2562101"/>
          <a:ext cx="8534400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763316916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227122398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400283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Iterativ (Index→XY)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Recursiv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8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Viteză execuție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Foarte rapid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Mai lent (50-100× mai lent)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1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Memorie folosită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✅ O(n²) doar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❌ O(n² + log n) + stack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937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Complexitate timp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O(n² ×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O(4ⁿ)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636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Complexitate spațiu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O(</a:t>
                      </a:r>
                      <a:r>
                        <a:rPr lang="ro-RO"/>
                        <a:t>n²</a:t>
                      </a:r>
                      <a:r>
                        <a:rPr lang="en-US"/>
                        <a:t>)</a:t>
                      </a:r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O(n² +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9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Citibilitate cod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Necesită înțelegere bit-wise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Foarte intuitiv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87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❌ Greu de urmărit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✅ Ușor de înțele</a:t>
                      </a:r>
                      <a:r>
                        <a:rPr lang="en-US" dirty="0"/>
                        <a:t>s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886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Cazuri de folosire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Producție, ordine mari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Învățare, vizualizare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05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Optimizare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✅ Operații bit-wise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❌ Overhead recursiv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708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55689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7B637-7C09-DE4C-FB68-C90886DE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9DBC-7839-5164-E00A-C55801B8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269" y="264225"/>
            <a:ext cx="8534400" cy="1507067"/>
          </a:xfrm>
        </p:spPr>
        <p:txBody>
          <a:bodyPr/>
          <a:lstStyle/>
          <a:p>
            <a:r>
              <a:rPr lang="ro-RO" dirty="0"/>
              <a:t>Iterativ vs Recursiv - Compara</a:t>
            </a:r>
            <a:r>
              <a:rPr lang="en-US" dirty="0"/>
              <a:t>t</a:t>
            </a:r>
            <a:r>
              <a:rPr lang="ro-RO" dirty="0"/>
              <a:t>ie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BC60F2-170C-9DD9-97F9-4502F6C40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269" y="2294906"/>
            <a:ext cx="7916028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6913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49</TotalTime>
  <Words>570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Slice</vt:lpstr>
      <vt:lpstr>Curba Hilbert - Fractali și Vizualizare Interactivă</vt:lpstr>
      <vt:lpstr>Introducere - Ce este Curba Hilbert?</vt:lpstr>
      <vt:lpstr>CONTEXT ISTORIC</vt:lpstr>
      <vt:lpstr>Proprietăți Matematice Fundamentale</vt:lpstr>
      <vt:lpstr>Aplicația Fractali Hilbert - Demo Interactiv</vt:lpstr>
      <vt:lpstr>Implementare - Structura de Date</vt:lpstr>
      <vt:lpstr>Algoritmul Principal - Generare Iterativă</vt:lpstr>
      <vt:lpstr>Algoritmul Index → Coordonate </vt:lpstr>
      <vt:lpstr>Rotații Geometrice - Cum Transformăm Cadraneele</vt:lpstr>
      <vt:lpstr>Desenarea pe Canvas</vt:lpstr>
      <vt:lpstr>Iterativ vs Recursiv - Comparatie</vt:lpstr>
      <vt:lpstr>Iterativ vs Recursiv - Comparatie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Edward</dc:creator>
  <cp:lastModifiedBy>Andrei Edward</cp:lastModifiedBy>
  <cp:revision>29</cp:revision>
  <dcterms:created xsi:type="dcterms:W3CDTF">2025-11-02T08:37:53Z</dcterms:created>
  <dcterms:modified xsi:type="dcterms:W3CDTF">2025-11-11T12:16:57Z</dcterms:modified>
</cp:coreProperties>
</file>